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30"/>
  </p:notesMasterIdLst>
  <p:handoutMasterIdLst>
    <p:handoutMasterId r:id="rId31"/>
  </p:handoutMasterIdLst>
  <p:sldIdLst>
    <p:sldId id="256" r:id="rId5"/>
    <p:sldId id="257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4" r:id="rId19"/>
    <p:sldId id="282" r:id="rId20"/>
    <p:sldId id="287" r:id="rId21"/>
    <p:sldId id="288" r:id="rId22"/>
    <p:sldId id="290" r:id="rId23"/>
    <p:sldId id="291" r:id="rId24"/>
    <p:sldId id="292" r:id="rId25"/>
    <p:sldId id="283" r:id="rId26"/>
    <p:sldId id="285" r:id="rId27"/>
    <p:sldId id="286" r:id="rId28"/>
    <p:sldId id="268" r:id="rId29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711"/>
    <p:restoredTop sz="94675"/>
  </p:normalViewPr>
  <p:slideViewPr>
    <p:cSldViewPr snapToGrid="0">
      <p:cViewPr varScale="1">
        <p:scale>
          <a:sx n="70" d="100"/>
          <a:sy n="70" d="100"/>
        </p:scale>
        <p:origin x="184" y="60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4/28/26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4/28/26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osa.org/doc/latest/index.html" TargetMode="External"/><Relationship Id="rId7" Type="http://schemas.openxmlformats.org/officeDocument/2006/relationships/hyperlink" Target="https://pysoundfile.readthedocs.io/" TargetMode="External"/><Relationship Id="rId2" Type="http://schemas.openxmlformats.org/officeDocument/2006/relationships/hyperlink" Target="https://www.tensorflow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ndas.pydata.org/docs/" TargetMode="External"/><Relationship Id="rId5" Type="http://schemas.openxmlformats.org/officeDocument/2006/relationships/hyperlink" Target="https://numpy.org/doc/" TargetMode="External"/><Relationship Id="rId4" Type="http://schemas.openxmlformats.org/officeDocument/2006/relationships/hyperlink" Target="https://scikit-learn.org/stable/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(Module-2) </a:t>
            </a: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Acoustic Signal-Based Non- Intrusive Engine Fault Detection Using Mel-Spectrograms and Convolutional Neural Networks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br>
              <a:rPr lang="en-US" sz="2000" b="1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b="1" spc="-1" dirty="0" err="1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Harimrat</a:t>
            </a:r>
            <a:r>
              <a:rPr lang="en-US" sz="2000" b="1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 Singh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1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2210990395</a:t>
            </a:r>
            <a:endParaRPr lang="en-US" sz="2000" b="1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By: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1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Dr. Gurpreet Singh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1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(Associate Professor)</a:t>
            </a:r>
            <a:endParaRPr lang="en-US" sz="2000" b="1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r>
              <a:rPr lang="en-IN" sz="32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lang="en-IN" sz="32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presents a non-intrusive approach for engine fault detection using acoustic signal analysis. Instead of relying on physical sensors or onboard diagnostic tools, the system utilizes engine sound recordings as input.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audio signals are processed into Mel-spectrogram representations and fed into a Convolutional Neural Network (CNN) for classification. The model is capable of identifying multiple engine conditions including normal operation and various fault types.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system achieves an average accuracy of approximately 86–87% using 5-fold cross-validation, demonstrating that acoustic-based fault detection can serve as an efficient, cost-effective, and scalable alternative to traditional diagnostic methods.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4FA6B-C599-B619-2D1F-7905E059F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486040" cy="1604520"/>
          </a:xfrm>
        </p:spPr>
        <p:txBody>
          <a:bodyPr/>
          <a:lstStyle/>
          <a:p>
            <a:pPr algn="ctr"/>
            <a:r>
              <a:rPr lang="en-I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br>
              <a:rPr lang="en-IN" dirty="0">
                <a:effectLst/>
                <a:latin typeface="Helvetica Neue" panose="02000503000000020004" pitchFamily="2" charset="0"/>
              </a:rPr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41B669-5360-8709-60B8-B2A56F143A03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57380" y="1604520"/>
            <a:ext cx="8229240" cy="4374792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Internal combustion engines generate characteristic sound patterns during operation. These patterns are consistent under normal conditions but change significantly when faults occur.</a:t>
            </a:r>
          </a:p>
          <a:p>
            <a:pPr marL="0" indent="0">
              <a:buNone/>
            </a:pPr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Faults such as misfires, knocking, belt wear, or mechanical issues introduce distinct variations in frequency and amplitude. These variations can be captured and </a:t>
            </a:r>
            <a:r>
              <a:rPr lang="en-IN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analyzed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using signal processing techniques.</a:t>
            </a:r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Traditional fault detection methods depend on sensors, diagnostic tools, or manual inspection, which can be expensive and not always accessible.</a:t>
            </a:r>
          </a:p>
          <a:p>
            <a:pPr marL="0" indent="0">
              <a:buNone/>
            </a:pPr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proposes a non-intrusive system that </a:t>
            </a:r>
            <a:r>
              <a:rPr lang="en-IN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engine sound to detect faults automatically, making it practical and widely usable.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76169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C5B03-81E5-3C1C-4613-AC9AFF7EA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320"/>
            <a:ext cx="5486040" cy="841248"/>
          </a:xfrm>
        </p:spPr>
        <p:txBody>
          <a:bodyPr/>
          <a:lstStyle/>
          <a:p>
            <a:r>
              <a:rPr lang="en-I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Problem Statement</a:t>
            </a:r>
            <a:br>
              <a:rPr lang="en-I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2C11A4-9656-8D12-BAAF-538A69EBD776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57380" y="1714248"/>
            <a:ext cx="8229240" cy="3977280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Early detection of engine faults is essential to prevent severe damage, reduce maintenance costs, and improve vehicle reliability.</a:t>
            </a:r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However, existing diagnostic approaches have several limitations:</a:t>
            </a:r>
          </a:p>
          <a:p>
            <a:pPr marL="0" indent="0">
              <a:buNone/>
            </a:pP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Require specialized hardware (OBD tools, sensors)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Depend on manual inspection and expertise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Not always accessible to general users</a:t>
            </a:r>
          </a:p>
          <a:p>
            <a:pPr marL="0" indent="0">
              <a:buNone/>
            </a:pP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Problem:</a:t>
            </a: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design a system that can detect and classify engine faults using only acoustic signals, without relying on intrusive hardware or complex diagnostic tools.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157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128016"/>
            <a:ext cx="5321448" cy="731520"/>
          </a:xfrm>
        </p:spPr>
        <p:txBody>
          <a:bodyPr/>
          <a:lstStyle/>
          <a:p>
            <a:r>
              <a:rPr lang="en-I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IN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main objectives of this project are: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non-intrusive engine fault detection system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use acoustic signals as the primary input for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extract meaningful features using Mel-spectrograms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design and train a CNN model for classification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classify multiple engine conditions accurately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evaluate performance using cross-validation and standard metrics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038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Acoustic signal processing has been widely used in industrial fault detection systems. Changes in machine sound often indicate underlying issues.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Mel-spectrograms are effective for representing audio signals in a visual format, capturing both time and frequency information.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Convolutional Neural Networks (CNNs) are well-suited for image-based data and can learn complex patterns from spectrograms.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Previous approaches using traditional methods such as SVM with MFCC features showed moderate performance, highlighting the need for more advanced models.</a:t>
            </a:r>
          </a:p>
        </p:txBody>
      </p:sp>
    </p:spTree>
    <p:extLst>
      <p:ext uri="{BB962C8B-B14F-4D97-AF65-F5344CB8AC3E}">
        <p14:creationId xmlns:p14="http://schemas.microsoft.com/office/powerpoint/2010/main" val="253865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follows a structured pipeline: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Audio data collection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Segmentation into smaller clips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augmentation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 using Mel-spectrograms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CNN-based classification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Pipeline Flow:</a:t>
            </a: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Audio Input → </a:t>
            </a:r>
            <a:r>
              <a:rPr lang="en-IN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Feature Extraction → CNN Model → Output Classification</a:t>
            </a:r>
          </a:p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777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2267712"/>
            <a:ext cx="8521848" cy="3314088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dataset used in this project is a combination of:</a:t>
            </a:r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 Mechanic Dataset (primary </a:t>
            </a:r>
            <a:r>
              <a:rPr lang="en-IN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labeled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dataset)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Additional real-world engine audio samples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These datasets include various engine conditions and fault types.</a:t>
            </a:r>
          </a:p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Classes considered:</a:t>
            </a:r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 Operation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Combustion Fault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Mechanical Fault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Belt/Accessory Fault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Background Noise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dataset was </a:t>
            </a:r>
            <a:r>
              <a:rPr lang="en-IN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preprocessed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augmented to improve diversity and model performance.</a:t>
            </a:r>
          </a:p>
        </p:txBody>
      </p:sp>
    </p:spTree>
    <p:extLst>
      <p:ext uri="{BB962C8B-B14F-4D97-AF65-F5344CB8AC3E}">
        <p14:creationId xmlns:p14="http://schemas.microsoft.com/office/powerpoint/2010/main" val="1007103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Prerprocessing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Audio </a:t>
            </a:r>
            <a:r>
              <a:rPr lang="en-IN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a crucial step to ensure consistency and quality.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Steps involved: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Resampling audio to 22050 Hz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Converting stereo audio to mono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Segmenting audio into 3-second clips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Applying zero-padding for uniform length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ensures all audio samples are standardized before feature extraction.</a:t>
            </a:r>
          </a:p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683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Augmentation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increase dataset diversity and improve generalization: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Time shifting: shifts audio slightly forward/backward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Gaussian noise: simulates real-world noise conditions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Pitch shifting: introduces variation in frequency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Augmentation helps the model learn robust features and reduces overfitting.</a:t>
            </a:r>
          </a:p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2934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Audio signals are converted into </a:t>
            </a:r>
            <a:r>
              <a:rPr lang="en-IN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Mel-spectrograms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Represents sound in time-frequency domain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Captures perceptually relevant features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Converted to decibel (dB) scale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Resized to 128 × 128 for CNN input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Mel-spectrograms transform audio into an image-like format suitable for deep learning.</a:t>
            </a:r>
          </a:p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882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CNN model consists of: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 layer: 128 × 128 × 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Convolution layers with </a:t>
            </a:r>
            <a:r>
              <a:rPr lang="en-IN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activation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Max pooling layers for dimensionality reduction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Flatten layer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Dense layer with 128 neurons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Dropout layer (0.5) to prevent overfitting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Output layer with </a:t>
            </a:r>
            <a:r>
              <a:rPr lang="en-IN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activation (5 classes)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architecture enables effective feature learning and classification.</a:t>
            </a:r>
          </a:p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023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Configuration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Optimizer: Adam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function: Sparse Categorical </a:t>
            </a:r>
            <a:r>
              <a:rPr lang="en-IN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Crossentropy</a:t>
            </a: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Batch size: 32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Epochs: 12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Train-test split: 80% – 20%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Validation: 5-fold cross-validation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These settings ensure balanced training and reliable evaluation.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617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model achieved: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Accuracy: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~86–87% (5-fold average)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 precision and recall for most classes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Performance indicates strong classification capability using only audio signals.</a:t>
            </a:r>
          </a:p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663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IN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Baseline</a:t>
            </a: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C62091E-FD5F-451A-7F69-8E1FE09356CB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194526"/>
          <a:ext cx="8229600" cy="88011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34152188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3334469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0779448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N" b="1">
                          <a:effectLst/>
                          <a:latin typeface="Helvetica Neue" panose="02000503000000020004" pitchFamily="2" charset="0"/>
                        </a:rPr>
                        <a:t>Model</a:t>
                      </a:r>
                      <a:endParaRPr lang="en-IN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>
                          <a:effectLst/>
                          <a:latin typeface="Helvetica Neue" panose="02000503000000020004" pitchFamily="2" charset="0"/>
                        </a:rPr>
                        <a:t>Accuracy</a:t>
                      </a:r>
                      <a:endParaRPr lang="en-IN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>
                          <a:effectLst/>
                          <a:latin typeface="Helvetica Neue" panose="02000503000000020004" pitchFamily="2" charset="0"/>
                        </a:rPr>
                        <a:t>F1-Score</a:t>
                      </a:r>
                      <a:endParaRPr lang="en-IN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4371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  <a:latin typeface="Helvetica Neue" panose="02000503000000020004" pitchFamily="2" charset="0"/>
                        </a:rPr>
                        <a:t>SVM + MFCC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  <a:latin typeface="Helvetica Neue" panose="02000503000000020004" pitchFamily="2" charset="0"/>
                        </a:rPr>
                        <a:t>78%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  <a:latin typeface="Helvetica Neue" panose="02000503000000020004" pitchFamily="2" charset="0"/>
                        </a:rPr>
                        <a:t>0.76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2065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  <a:latin typeface="Helvetica Neue" panose="02000503000000020004" pitchFamily="2" charset="0"/>
                        </a:rPr>
                        <a:t>CNN + Mel-Spectrogram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  <a:latin typeface="Helvetica Neue" panose="02000503000000020004" pitchFamily="2" charset="0"/>
                        </a:rPr>
                        <a:t>86%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effectLst/>
                          <a:latin typeface="Helvetica Neue" panose="02000503000000020004" pitchFamily="2" charset="0"/>
                        </a:rPr>
                        <a:t>0.84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1040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90238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Visualization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r>
              <a:rPr lang="en-IN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Output Visualizations</a:t>
            </a: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Generated outputs include: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Accuracy vs Validation graph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Loss vs Validation graph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ROC curves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Mel-spectrogram comparison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997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DC698-B8C3-65F4-3B97-1A71F5E24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Visualization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ABF9A7-56D7-B465-DB5E-73BCC9F4DFA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525348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IN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Training and Validation Accuracy Graph.</a:t>
            </a:r>
            <a:r>
              <a:rPr lang="en-IN" dirty="0">
                <a:effectLst/>
              </a:rPr>
              <a:t> 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3F2832A-1C0C-2705-999D-D42132CF49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2837" y="979253"/>
            <a:ext cx="6269021" cy="427422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932790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DC698-B8C3-65F4-3B97-1A71F5E24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Visualization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ABF9A7-56D7-B465-DB5E-73BCC9F4DFA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525348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IN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Training and Validation Loss Graph.</a:t>
            </a:r>
            <a:r>
              <a:rPr lang="en-IN" dirty="0">
                <a:effectLst/>
              </a:rPr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F749EC-35FD-E143-A1B2-9DED754D5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237" y="1432030"/>
            <a:ext cx="5929693" cy="4339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073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DC698-B8C3-65F4-3B97-1A71F5E24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Visualization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ABF9A7-56D7-B465-DB5E-73BCC9F4DFA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525348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algn="ctr"/>
            <a:r>
              <a:rPr lang="en-IN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IN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Confusion Matrix for Five-Class Classification.</a:t>
            </a:r>
            <a:endParaRPr lang="en-IN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872060-E9F9-4A10-5B08-6E1783D7E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776" y="1324990"/>
            <a:ext cx="5375678" cy="450888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0020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DC698-B8C3-65F4-3B97-1A71F5E24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Visualization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ABF9A7-56D7-B465-DB5E-73BCC9F4DFA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525348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algn="ctr"/>
            <a:r>
              <a:rPr lang="en-IN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ROC Curve</a:t>
            </a:r>
            <a:endParaRPr lang="en-IN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CB75D-3964-D7E7-B45C-E6477DEB3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6330" y="1699260"/>
            <a:ext cx="4800854" cy="37993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488826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DC698-B8C3-65F4-3B97-1A71F5E24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Visualization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ABF9A7-56D7-B465-DB5E-73BCC9F4DFA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525348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algn="ctr"/>
            <a:r>
              <a:rPr lang="en-IN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Normal vs Faulty </a:t>
            </a:r>
            <a:r>
              <a:rPr lang="en-IN" sz="1800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Egnine</a:t>
            </a:r>
            <a:r>
              <a:rPr lang="en-IN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Mel-Spectrogram</a:t>
            </a:r>
            <a:endParaRPr lang="en-IN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431A7F-A1E3-E458-A43C-D43325E62A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84" y="1890119"/>
            <a:ext cx="9092416" cy="3363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3839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r>
              <a:rPr lang="en-IN" sz="2000" b="1" dirty="0">
                <a:effectLst/>
                <a:latin typeface="Helvetica Neue" panose="02000503000000020004" pitchFamily="2" charset="0"/>
              </a:rPr>
              <a:t>Conclusion</a:t>
            </a:r>
            <a:endParaRPr lang="en-IN" sz="2000" dirty="0">
              <a:effectLst/>
              <a:latin typeface="Helvetica Neue" panose="02000503000000020004" pitchFamily="2" charset="0"/>
            </a:endParaRPr>
          </a:p>
          <a:p>
            <a:br>
              <a:rPr lang="en-IN" sz="2000" dirty="0">
                <a:effectLst/>
                <a:latin typeface="Helvetica Neue" panose="02000503000000020004" pitchFamily="2" charset="0"/>
              </a:rPr>
            </a:br>
            <a:endParaRPr lang="en-IN" sz="2000" dirty="0">
              <a:effectLst/>
              <a:latin typeface="Helvetica Neue" panose="02000503000000020004" pitchFamily="2" charset="0"/>
            </a:endParaRPr>
          </a:p>
          <a:p>
            <a:r>
              <a:rPr lang="en-IN" sz="2000" dirty="0">
                <a:effectLst/>
                <a:latin typeface="Helvetica Neue" panose="02000503000000020004" pitchFamily="2" charset="0"/>
              </a:rPr>
              <a:t>This project successfully demonstrates that engine faults can be detected using acoustic signals alone.</a:t>
            </a:r>
          </a:p>
          <a:p>
            <a:br>
              <a:rPr lang="en-IN" sz="2000" dirty="0">
                <a:effectLst/>
                <a:latin typeface="Helvetica Neue" panose="02000503000000020004" pitchFamily="2" charset="0"/>
              </a:rPr>
            </a:br>
            <a:endParaRPr lang="en-IN" sz="2000" dirty="0">
              <a:effectLst/>
              <a:latin typeface="Helvetica Neue" panose="02000503000000020004" pitchFamily="2" charset="0"/>
            </a:endParaRPr>
          </a:p>
          <a:p>
            <a:r>
              <a:rPr lang="en-IN" sz="2000" dirty="0">
                <a:effectLst/>
                <a:latin typeface="Helvetica Neue" panose="02000503000000020004" pitchFamily="2" charset="0"/>
              </a:rPr>
              <a:t>The CNN-based approach provides accurate classification without requiring intrusive hardware.</a:t>
            </a:r>
          </a:p>
          <a:p>
            <a:br>
              <a:rPr lang="en-IN" sz="2000" dirty="0">
                <a:effectLst/>
                <a:latin typeface="Helvetica Neue" panose="02000503000000020004" pitchFamily="2" charset="0"/>
              </a:rPr>
            </a:br>
            <a:endParaRPr lang="en-IN" sz="2000" dirty="0">
              <a:effectLst/>
              <a:latin typeface="Helvetica Neue" panose="02000503000000020004" pitchFamily="2" charset="0"/>
            </a:endParaRPr>
          </a:p>
          <a:p>
            <a:r>
              <a:rPr lang="en-IN" sz="2000" dirty="0">
                <a:effectLst/>
                <a:latin typeface="Helvetica Neue" panose="02000503000000020004" pitchFamily="2" charset="0"/>
              </a:rPr>
              <a:t>It offers a scalable and cost-effective solution for real-world application</a:t>
            </a:r>
          </a:p>
          <a:p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9368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4868568"/>
          </a:xfrm>
        </p:spPr>
        <p:txBody>
          <a:bodyPr/>
          <a:lstStyle/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 larger and more diverse datasets with multiple types of engine like W shaped.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Deploy as a mobile or web application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fault detection system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IoT and vehicle systems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 model accuracy with advanced architectures</a:t>
            </a:r>
          </a:p>
          <a:p>
            <a:b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373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980E-EFEA-54CE-6474-9225DF51C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" y="128016"/>
            <a:ext cx="5321448" cy="73152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9A6048-9B46-6D32-F277-6D66E611962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64592" y="713232"/>
            <a:ext cx="8521848" cy="601675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IN" sz="2000" dirty="0"/>
              <a:t>TensorFlow Documentation:</a:t>
            </a:r>
            <a:br>
              <a:rPr lang="en-IN" sz="2000" dirty="0"/>
            </a:br>
            <a:r>
              <a:rPr lang="en-IN" sz="2000" dirty="0">
                <a:hlinkClick r:id="rId2"/>
              </a:rPr>
              <a:t>https://www.tensorflow.org/</a:t>
            </a: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 err="1"/>
              <a:t>Librosa</a:t>
            </a:r>
            <a:r>
              <a:rPr lang="en-IN" sz="2000" dirty="0"/>
              <a:t> Documentation:</a:t>
            </a:r>
            <a:br>
              <a:rPr lang="en-IN" sz="2000" dirty="0"/>
            </a:br>
            <a:r>
              <a:rPr lang="en-IN" sz="2000" dirty="0">
                <a:hlinkClick r:id="rId3"/>
              </a:rPr>
              <a:t>https://librosa.org/doc/latest/index.html</a:t>
            </a: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/>
              <a:t>Scikit-learn Documentation:</a:t>
            </a:r>
            <a:br>
              <a:rPr lang="en-IN" sz="2000" dirty="0"/>
            </a:br>
            <a:r>
              <a:rPr lang="en-IN" sz="2000" dirty="0">
                <a:hlinkClick r:id="rId4"/>
              </a:rPr>
              <a:t>https://scikit-learn.org/stable/</a:t>
            </a: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/>
              <a:t>NumPy Documentation:</a:t>
            </a:r>
            <a:br>
              <a:rPr lang="en-IN" sz="2000" dirty="0"/>
            </a:br>
            <a:r>
              <a:rPr lang="en-IN" sz="2000" dirty="0">
                <a:hlinkClick r:id="rId5"/>
              </a:rPr>
              <a:t>https://numpy.org/doc/</a:t>
            </a: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/>
              <a:t>Pandas Documentation:</a:t>
            </a:r>
            <a:br>
              <a:rPr lang="en-IN" sz="2000" dirty="0"/>
            </a:br>
            <a:r>
              <a:rPr lang="en-IN" sz="2000" dirty="0">
                <a:hlinkClick r:id="rId6"/>
              </a:rPr>
              <a:t>https://pandas.pydata.org/docs/</a:t>
            </a: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 err="1"/>
              <a:t>SoundFile</a:t>
            </a:r>
            <a:r>
              <a:rPr lang="en-IN" sz="2000" dirty="0"/>
              <a:t> Documentation:</a:t>
            </a:r>
            <a:br>
              <a:rPr lang="en-IN" sz="2000" dirty="0"/>
            </a:br>
            <a:r>
              <a:rPr lang="en-IN" sz="2000" dirty="0">
                <a:hlinkClick r:id="rId7"/>
              </a:rPr>
              <a:t>https://pysoundfile.readthedocs.io/</a:t>
            </a:r>
            <a:endParaRPr lang="en-IN" sz="2000" dirty="0"/>
          </a:p>
          <a:p>
            <a:pPr>
              <a:buFont typeface="Arial" panose="020B0604020202020204" pitchFamily="34" charset="0"/>
              <a:buChar char="•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8166318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25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34736</TotalTime>
  <Words>1154</Words>
  <Application>Microsoft Macintosh PowerPoint</Application>
  <PresentationFormat>On-screen Show (4:3)</PresentationFormat>
  <Paragraphs>240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Helvetica Neue</vt:lpstr>
      <vt:lpstr>Times New Roman</vt:lpstr>
      <vt:lpstr>Office Theme</vt:lpstr>
      <vt:lpstr>PowerPoint Presentation</vt:lpstr>
      <vt:lpstr>PowerPoint Presentation</vt:lpstr>
      <vt:lpstr>Introduction </vt:lpstr>
      <vt:lpstr> Problem Statement </vt:lpstr>
      <vt:lpstr>Objectives</vt:lpstr>
      <vt:lpstr>Background</vt:lpstr>
      <vt:lpstr>Methodology</vt:lpstr>
      <vt:lpstr>Dataset</vt:lpstr>
      <vt:lpstr>Audio Prerprocessing</vt:lpstr>
      <vt:lpstr>Data Augmentation</vt:lpstr>
      <vt:lpstr>Feature Extraction</vt:lpstr>
      <vt:lpstr>CNN Architecture</vt:lpstr>
      <vt:lpstr>Training Configuration</vt:lpstr>
      <vt:lpstr>Results</vt:lpstr>
      <vt:lpstr>Comparison with Baseline</vt:lpstr>
      <vt:lpstr>Output Visualization</vt:lpstr>
      <vt:lpstr>Output Visualization</vt:lpstr>
      <vt:lpstr>Output Visualization</vt:lpstr>
      <vt:lpstr>Output Visualization</vt:lpstr>
      <vt:lpstr>Output Visualization</vt:lpstr>
      <vt:lpstr>Output Visualization</vt:lpstr>
      <vt:lpstr>Conclusion</vt:lpstr>
      <vt:lpstr>Future Scope</vt:lpstr>
      <vt:lpstr>References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Harsimrat Singh</cp:lastModifiedBy>
  <cp:revision>2302</cp:revision>
  <dcterms:created xsi:type="dcterms:W3CDTF">2010-04-09T07:36:15Z</dcterms:created>
  <dcterms:modified xsi:type="dcterms:W3CDTF">2026-04-28T15:11:29Z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